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portfolio project: hands-on SAR and maritime-domain work, from raw Sentinel-1 scenes to a validated detector and a CesiumJS viewer. Fifteen years of photogrammetry and geospatial AI, applied to a new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of interest: the northeast Newfoundland coast, roughly Bonavista to St. Anthony, extending offshore. April to June has the most icebergs.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4 and 5 (orange) are the detector itself. Each detection keeps its incidence angle, contrast, size and distance to pack ice as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subtlety worth mentioning: HyP3 removes the HV thermal noise floor, so open-water HV sits at -30 to -40 dB with ENL below 1. A textbook ENL would set the threshold far too low, so ENL is estimated from each scene. Detection runs on linear power; dB is for display and reported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HH check matters at 10 m: IW GRD is oversampled (true resolution about 20 m), so HV speckle grains span about 2x2 pixels and pass the size filter. Real targets are bright in both polarizations. Thin strips of loose sea ice were the main false-alarm source until the structure-length filter. The vertical brightness steps in the image are the three IW sub-swaths.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3, Vite and CesiumJS, fed by a time-dynamic CZML file with one interval per scene. Esri imagery basemap, so no Cesium ion token is needed. Nothing is deleted: near-ice candidates are greyed out and can be hidden with a checkbox.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uses spring 2019 because the IIP sightings database (NSIDC G00807) ends with the 2021 season. Same pipeline, same parameters as the 2025 scenes. Matching is one-to-one within 500 m. Caveat: the analysts looked at the same radar image, so this measures agreement with expert interpretation, not independent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large bergs each have a detection 1 to 4 km away but none on the berg. Likely causes: the 300 m ice-strip filter, and a CFAR guard window smaller than the berg, which leaks part of the berg into its own background estimate. Small bergs that are a single 10 m pixel in HV are removed by the 2-pixel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NAIS charts are partly modelled and include growlers too small for SAR. Inshore, SAR finds 3 to 8 times the chart count; offshore on rough days it finds fewer. Sentinel-2 in April showed up to 37,800 bright objects per tile, mostly ice floes, so optical cannot separate small bergs from floes at 10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(209 of 684) is a lower bound on precision, not an estimate. The unlabelled detections are strong targets, similar in size to matched ones, and concentrated among labelled bergs. An experimental iceberg-vs-ship CNN trained on the Kaggle Statoil/C-CORE chips exists, but it is mostly unsure on our data and is used only as a review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searches ASF, keeps the best-covering HH+HV scenes, orders HyP3 RTC processing (60 credits per 10 m scene), then masks, detects and exports CZML. Masking plus detection takes about 17 minutes per 10 m scene on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has the full write-up: method, validation findings and limitations, plus the 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756"/>
            <a:ext cx="10566436" cy="502859"/>
          </a:xfrm>
          <a:prstGeom prst="rect">
            <a:avLst/>
          </a:prstGeom>
          <a:noFill/>
          <a:ln/>
        </p:spPr>
        <p:txBody>
          <a:bodyPr wrap="square" lIns="0" tIns="0" rIns="0" bIns="0" rtlCol="0" anchor="t"/>
          <a:lstStyle>
            <a:lvl1pPr algn="l" indent="0" marL="0">
              <a:lnSpc>
                <a:spcPct val="115000"/>
              </a:lnSpc>
              <a:buNone/>
              <a:defRPr lang="en-US" sz="3600" dirty="0">
                <a:solidFill>
                  <a:srgbClr val="0E22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2" y="1935415"/>
            <a:ext cx="10566418" cy="4109785"/>
          </a:xfrm>
          <a:prstGeom prst="rect">
            <a:avLst/>
          </a:prstGeom>
          <a:noFill/>
          <a:ln/>
        </p:spPr>
        <p:txBody>
          <a:bodyPr wrap="square" lIns="0" tIns="0" rIns="0" bIns="0" rtlCol="0" anchor="t"/>
          <a:lstStyle>
            <a:lvl1pPr algn="l" indent="0" marL="0">
              <a:lnSpc>
                <a:spcPct val="140000"/>
              </a:lnSpc>
              <a:buNone/>
              <a:defRPr lang="en-US" sz="1600" dirty="0">
                <a:solidFill>
                  <a:srgbClr val="0E22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756"/>
            <a:ext cx="10566436" cy="502859"/>
          </a:xfrm>
          <a:prstGeom prst="rect">
            <a:avLst/>
          </a:prstGeom>
          <a:noFill/>
          <a:ln/>
        </p:spPr>
        <p:txBody>
          <a:bodyPr wrap="square" lIns="0" tIns="0" rIns="0" bIns="0" rtlCol="0" anchor="t"/>
          <a:lstStyle>
            <a:lvl1pPr algn="l" indent="0" marL="0">
              <a:lnSpc>
                <a:spcPct val="115000"/>
              </a:lnSpc>
              <a:buNone/>
              <a:defRPr lang="en-US" sz="3600" dirty="0">
                <a:solidFill>
                  <a:srgbClr val="0E22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2" y="1935415"/>
            <a:ext cx="10566418" cy="4109785"/>
          </a:xfrm>
          <a:prstGeom prst="rect">
            <a:avLst/>
          </a:prstGeom>
          <a:noFill/>
          <a:ln/>
        </p:spPr>
        <p:txBody>
          <a:bodyPr wrap="square" lIns="0" tIns="0" rIns="0" bIns="0" rtlCol="0" anchor="t"/>
          <a:lstStyle>
            <a:lvl1pPr algn="l" indent="0" marL="0">
              <a:lnSpc>
                <a:spcPct val="140000"/>
              </a:lnSpc>
              <a:buNone/>
              <a:defRPr lang="en-US" sz="1600" dirty="0">
                <a:solidFill>
                  <a:srgbClr val="0E22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natali-kovalski/Icebergs"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3"/>
        </a:solidFill>
      </p:bgPr>
    </p:bg>
    <p:spTree>
      <p:nvGrpSpPr>
        <p:cNvPr id="1" name=""/>
        <p:cNvGrpSpPr/>
        <p:nvPr/>
      </p:nvGrpSpPr>
      <p:grpSpPr>
        <a:xfrm>
          <a:off x="0" y="0"/>
          <a:ext cx="0" cy="0"/>
          <a:chOff x="0" y="0"/>
          <a:chExt cx="0" cy="0"/>
        </a:xfrm>
      </p:grpSpPr>
      <p:pic>
        <p:nvPicPr>
          <p:cNvPr id="2" name="Image 0" descr="Cesium viewer showing iceberg candidates off northeast Newfoundland">    </p:cNvPr>
          <p:cNvPicPr>
            <a:picLocks noChangeAspect="1"/>
          </p:cNvPicPr>
          <p:nvPr/>
        </p:nvPicPr>
        <p:blipFill>
          <a:blip r:embed="rId1"/>
          <a:srcRect l="26042" r="26042" t="0" b="0"/>
          <a:stretch/>
        </p:blipFill>
        <p:spPr>
          <a:xfrm>
            <a:off x="6350000" y="0"/>
            <a:ext cx="5842000" cy="6858000"/>
          </a:xfrm>
          <a:prstGeom prst="rect">
            <a:avLst/>
          </a:prstGeom>
        </p:spPr>
      </p:pic>
      <p:sp>
        <p:nvSpPr>
          <p:cNvPr id="3" name="Shape 0"/>
          <p:cNvSpPr/>
          <p:nvPr/>
        </p:nvSpPr>
        <p:spPr>
          <a:xfrm>
            <a:off x="6350000" y="0"/>
            <a:ext cx="1524000" cy="6858000"/>
          </a:xfrm>
          <a:prstGeom prst="rect">
            <a:avLst/>
          </a:prstGeom>
          <a:gradFill rotWithShape="1">
            <a:gsLst>
              <a:gs pos="0">
                <a:srgbClr val="0E2233"/>
              </a:gs>
              <a:gs pos="100000">
                <a:srgbClr val="0E2233">
                  <a:alpha val="0"/>
                </a:srgbClr>
              </a:gs>
            </a:gsLst>
            <a:lin ang="0" scaled="0"/>
          </a:gradFill>
          <a:ln/>
        </p:spPr>
      </p:sp>
      <p:sp>
        <p:nvSpPr>
          <p:cNvPr id="4" name="Text 1"/>
          <p:cNvSpPr/>
          <p:nvPr/>
        </p:nvSpPr>
        <p:spPr>
          <a:xfrm>
            <a:off x="812782" y="1668949"/>
            <a:ext cx="5232400"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766"/>
                </a:solidFill>
                <a:latin typeface="IBM Plex Sans" pitchFamily="34" charset="0"/>
                <a:ea typeface="IBM Plex Sans" pitchFamily="34" charset="-122"/>
                <a:cs typeface="IBM Plex Sans" pitchFamily="34" charset="-120"/>
              </a:rPr>
              <a:t>PROJECT BRIEF · SENTINEL-1 SAR</a:t>
            </a:r>
            <a:endParaRPr lang="en-US" sz="1200" dirty="0"/>
          </a:p>
        </p:txBody>
      </p:sp>
      <p:sp>
        <p:nvSpPr>
          <p:cNvPr id="5" name="Text 2"/>
          <p:cNvSpPr/>
          <p:nvPr>
            <p:ph type="title"/>
          </p:nvPr>
        </p:nvSpPr>
        <p:spPr>
          <a:xfrm>
            <a:off x="812782" y="2085488"/>
            <a:ext cx="5232400" cy="1625528"/>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6F3"/>
                </a:solidFill>
                <a:latin typeface="Source Serif 4" pitchFamily="18" charset="0"/>
                <a:ea typeface="Source Serif 4" pitchFamily="18" charset="-122"/>
                <a:cs typeface="Source Serif 4" pitchFamily="18" charset="-120"/>
              </a:rPr>
              <a:t>Iceberg Alley SAR</a:t>
            </a:r>
            <a:endParaRPr lang="en-US" sz="6000" dirty="0"/>
          </a:p>
        </p:txBody>
      </p:sp>
      <p:sp>
        <p:nvSpPr>
          <p:cNvPr id="6" name="Text 3"/>
          <p:cNvSpPr/>
          <p:nvPr/>
        </p:nvSpPr>
        <p:spPr>
          <a:xfrm>
            <a:off x="812782" y="3888744"/>
            <a:ext cx="5232400" cy="909168"/>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FD3DB"/>
                </a:solidFill>
                <a:latin typeface="IBM Plex Sans" pitchFamily="34" charset="0"/>
                <a:ea typeface="IBM Plex Sans" pitchFamily="34" charset="-122"/>
                <a:cs typeface="IBM Plex Sans" pitchFamily="34" charset="-120"/>
              </a:rPr>
              <a:t>Detecting icebergs off Newfoundland in satellite radar, and showing them on an interactive globe with a timeline.</a:t>
            </a:r>
            <a:endParaRPr lang="en-US" sz="1600" dirty="0"/>
          </a:p>
        </p:txBody>
      </p:sp>
      <p:sp>
        <p:nvSpPr>
          <p:cNvPr id="7" name="Text 4"/>
          <p:cNvSpPr/>
          <p:nvPr/>
        </p:nvSpPr>
        <p:spPr>
          <a:xfrm>
            <a:off x="812782" y="4975640"/>
            <a:ext cx="52324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B"/>
                </a:solidFill>
                <a:latin typeface="IBM Plex Sans" pitchFamily="34" charset="0"/>
                <a:ea typeface="IBM Plex Sans" pitchFamily="34" charset="-122"/>
                <a:cs typeface="IBM Plex Sans" pitchFamily="34" charset="-120"/>
              </a:rPr>
              <a:t>Natali Kovalski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782" y="1127756"/>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Every spring, icebergs drift into busy water</a:t>
            </a:r>
            <a:endParaRPr lang="en-US" sz="3600" dirty="0"/>
          </a:p>
        </p:txBody>
      </p:sp>
      <p:sp>
        <p:nvSpPr>
          <p:cNvPr id="4" name="Shape 2"/>
          <p:cNvSpPr/>
          <p:nvPr/>
        </p:nvSpPr>
        <p:spPr>
          <a:xfrm>
            <a:off x="815957" y="1938572"/>
            <a:ext cx="3380347" cy="3900253"/>
          </a:xfrm>
          <a:prstGeom prst="roundRect">
            <a:avLst>
              <a:gd name="adj" fmla="val 2912"/>
            </a:avLst>
          </a:prstGeom>
          <a:solidFill>
            <a:srgbClr val="FBFCFA"/>
          </a:solidFill>
          <a:ln w="6350">
            <a:solidFill>
              <a:srgbClr val="D5DEE0"/>
            </a:solidFill>
            <a:prstDash val="solid"/>
          </a:ln>
        </p:spPr>
      </p:sp>
      <p:sp>
        <p:nvSpPr>
          <p:cNvPr id="5" name="Text 3"/>
          <p:cNvSpPr/>
          <p:nvPr/>
        </p:nvSpPr>
        <p:spPr>
          <a:xfrm>
            <a:off x="1123337" y="2245951"/>
            <a:ext cx="284855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123337" y="2586362"/>
            <a:ext cx="2848555"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The hazard</a:t>
            </a:r>
            <a:endParaRPr lang="en-US" sz="2200" dirty="0"/>
          </a:p>
        </p:txBody>
      </p:sp>
      <p:sp>
        <p:nvSpPr>
          <p:cNvPr id="7" name="Text 5"/>
          <p:cNvSpPr/>
          <p:nvPr/>
        </p:nvSpPr>
        <p:spPr>
          <a:xfrm>
            <a:off x="1123337" y="3048631"/>
            <a:ext cx="2848555" cy="1447836"/>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Greenland bergs ride the Labrador Current down "Iceberg Alley", past shipping lanes, fishing grounds and offshore platforms.</a:t>
            </a:r>
            <a:endParaRPr lang="en-US" sz="1600" dirty="0"/>
          </a:p>
        </p:txBody>
      </p:sp>
      <p:sp>
        <p:nvSpPr>
          <p:cNvPr id="8" name="Shape 6"/>
          <p:cNvSpPr/>
          <p:nvPr/>
        </p:nvSpPr>
        <p:spPr>
          <a:xfrm>
            <a:off x="4405781" y="1938572"/>
            <a:ext cx="3380437" cy="3900253"/>
          </a:xfrm>
          <a:prstGeom prst="roundRect">
            <a:avLst>
              <a:gd name="adj" fmla="val 2912"/>
            </a:avLst>
          </a:prstGeom>
          <a:solidFill>
            <a:srgbClr val="FBFCFA"/>
          </a:solidFill>
          <a:ln w="6350">
            <a:solidFill>
              <a:srgbClr val="D5DEE0"/>
            </a:solidFill>
            <a:prstDash val="solid"/>
          </a:ln>
        </p:spPr>
      </p:sp>
      <p:sp>
        <p:nvSpPr>
          <p:cNvPr id="9" name="Text 7"/>
          <p:cNvSpPr/>
          <p:nvPr/>
        </p:nvSpPr>
        <p:spPr>
          <a:xfrm>
            <a:off x="4713161" y="2245951"/>
            <a:ext cx="2848648"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4713161" y="2586362"/>
            <a:ext cx="2848648"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The gap</a:t>
            </a:r>
            <a:endParaRPr lang="en-US" sz="2200" dirty="0"/>
          </a:p>
        </p:txBody>
      </p:sp>
      <p:sp>
        <p:nvSpPr>
          <p:cNvPr id="11" name="Text 9"/>
          <p:cNvSpPr/>
          <p:nvPr/>
        </p:nvSpPr>
        <p:spPr>
          <a:xfrm>
            <a:off x="4713161" y="3048631"/>
            <a:ext cx="2848648" cy="1163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Aircraft reconnaissance is costly and limited by weather, and this coast is often fogged in.</a:t>
            </a:r>
            <a:endParaRPr lang="en-US" sz="1600" dirty="0"/>
          </a:p>
        </p:txBody>
      </p:sp>
      <p:sp>
        <p:nvSpPr>
          <p:cNvPr id="12" name="Shape 10"/>
          <p:cNvSpPr/>
          <p:nvPr/>
        </p:nvSpPr>
        <p:spPr>
          <a:xfrm>
            <a:off x="7995696" y="1938572"/>
            <a:ext cx="3380347" cy="3900253"/>
          </a:xfrm>
          <a:prstGeom prst="roundRect">
            <a:avLst>
              <a:gd name="adj" fmla="val 2912"/>
            </a:avLst>
          </a:prstGeom>
          <a:solidFill>
            <a:srgbClr val="FBFCFA"/>
          </a:solidFill>
          <a:ln w="6350">
            <a:solidFill>
              <a:srgbClr val="D5DEE0"/>
            </a:solidFill>
            <a:prstDash val="solid"/>
          </a:ln>
        </p:spPr>
      </p:sp>
      <p:sp>
        <p:nvSpPr>
          <p:cNvPr id="13" name="Text 11"/>
          <p:cNvSpPr/>
          <p:nvPr/>
        </p:nvSpPr>
        <p:spPr>
          <a:xfrm>
            <a:off x="8303075" y="2245951"/>
            <a:ext cx="284855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8303075" y="2586362"/>
            <a:ext cx="2848555"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The idea</a:t>
            </a:r>
            <a:endParaRPr lang="en-US" sz="2200" dirty="0"/>
          </a:p>
        </p:txBody>
      </p:sp>
      <p:sp>
        <p:nvSpPr>
          <p:cNvPr id="15" name="Text 13"/>
          <p:cNvSpPr/>
          <p:nvPr/>
        </p:nvSpPr>
        <p:spPr>
          <a:xfrm>
            <a:off x="8303075" y="3048631"/>
            <a:ext cx="2848555" cy="1163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Satellite radar sees through cloud and darkness. Sentinel-1 data is free and revisits every few days.</a:t>
            </a:r>
            <a:endParaRPr lang="en-US" sz="1600" dirty="0"/>
          </a:p>
        </p:txBody>
      </p:sp>
      <p:sp>
        <p:nvSpPr>
          <p:cNvPr id="16" name="Text 14"/>
          <p:cNvSpPr/>
          <p:nvPr/>
        </p:nvSpPr>
        <p:spPr>
          <a:xfrm>
            <a:off x="812782" y="6238242"/>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7" name="Text 15"/>
          <p:cNvSpPr/>
          <p:nvPr/>
        </p:nvSpPr>
        <p:spPr>
          <a:xfrm>
            <a:off x="11236956" y="6238242"/>
            <a:ext cx="14226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APPROACH</a:t>
            </a:r>
            <a:endParaRPr lang="en-US" sz="1200" dirty="0"/>
          </a:p>
        </p:txBody>
      </p:sp>
      <p:sp>
        <p:nvSpPr>
          <p:cNvPr id="3" name="Text 1"/>
          <p:cNvSpPr/>
          <p:nvPr>
            <p:ph type="title"/>
          </p:nvPr>
        </p:nvSpPr>
        <p:spPr>
          <a:xfrm>
            <a:off x="812782" y="1127756"/>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Six steps from raw scene to globe</a:t>
            </a:r>
            <a:endParaRPr lang="en-US" sz="3600" dirty="0"/>
          </a:p>
        </p:txBody>
      </p:sp>
      <p:sp>
        <p:nvSpPr>
          <p:cNvPr id="4" name="Shape 2"/>
          <p:cNvSpPr/>
          <p:nvPr/>
        </p:nvSpPr>
        <p:spPr>
          <a:xfrm>
            <a:off x="815957" y="1938572"/>
            <a:ext cx="1670086" cy="3310984"/>
          </a:xfrm>
          <a:prstGeom prst="roundRect">
            <a:avLst>
              <a:gd name="adj" fmla="val 4373"/>
            </a:avLst>
          </a:prstGeom>
          <a:solidFill>
            <a:srgbClr val="FBFCFA"/>
          </a:solidFill>
          <a:ln w="6350">
            <a:solidFill>
              <a:srgbClr val="D5DEE0"/>
            </a:solidFill>
            <a:prstDash val="solid"/>
          </a:ln>
        </p:spPr>
      </p:sp>
      <p:sp>
        <p:nvSpPr>
          <p:cNvPr id="5" name="Text 3"/>
          <p:cNvSpPr/>
          <p:nvPr/>
        </p:nvSpPr>
        <p:spPr>
          <a:xfrm>
            <a:off x="1021683"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021683"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Search</a:t>
            </a:r>
            <a:endParaRPr lang="en-US" sz="1600" dirty="0"/>
          </a:p>
        </p:txBody>
      </p:sp>
      <p:sp>
        <p:nvSpPr>
          <p:cNvPr id="7" name="Text 5"/>
          <p:cNvSpPr/>
          <p:nvPr/>
        </p:nvSpPr>
        <p:spPr>
          <a:xfrm>
            <a:off x="1021683" y="2804643"/>
            <a:ext cx="1309435" cy="6656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ASF search for HH+HV scenes over the AOI</a:t>
            </a:r>
            <a:endParaRPr lang="en-US" sz="1200" dirty="0"/>
          </a:p>
        </p:txBody>
      </p:sp>
      <p:sp>
        <p:nvSpPr>
          <p:cNvPr id="8" name="Shape 6"/>
          <p:cNvSpPr/>
          <p:nvPr/>
        </p:nvSpPr>
        <p:spPr>
          <a:xfrm>
            <a:off x="2593957" y="1938572"/>
            <a:ext cx="1670086" cy="3310984"/>
          </a:xfrm>
          <a:prstGeom prst="roundRect">
            <a:avLst>
              <a:gd name="adj" fmla="val 4373"/>
            </a:avLst>
          </a:prstGeom>
          <a:solidFill>
            <a:srgbClr val="FBFCFA"/>
          </a:solidFill>
          <a:ln w="6350">
            <a:solidFill>
              <a:srgbClr val="D5DEE0"/>
            </a:solidFill>
            <a:prstDash val="solid"/>
          </a:ln>
        </p:spPr>
      </p:sp>
      <p:sp>
        <p:nvSpPr>
          <p:cNvPr id="9" name="Text 7"/>
          <p:cNvSpPr/>
          <p:nvPr/>
        </p:nvSpPr>
        <p:spPr>
          <a:xfrm>
            <a:off x="2799682"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2799682"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Calibrate</a:t>
            </a:r>
            <a:endParaRPr lang="en-US" sz="1600" dirty="0"/>
          </a:p>
        </p:txBody>
      </p:sp>
      <p:sp>
        <p:nvSpPr>
          <p:cNvPr id="11" name="Text 9"/>
          <p:cNvSpPr/>
          <p:nvPr/>
        </p:nvSpPr>
        <p:spPr>
          <a:xfrm>
            <a:off x="2799682" y="2804643"/>
            <a:ext cx="1309435" cy="8790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HyP3 terrain correction: gamma0, linear power, 10 m</a:t>
            </a:r>
            <a:endParaRPr lang="en-US" sz="1200" dirty="0"/>
          </a:p>
        </p:txBody>
      </p:sp>
      <p:sp>
        <p:nvSpPr>
          <p:cNvPr id="12" name="Shape 10"/>
          <p:cNvSpPr/>
          <p:nvPr/>
        </p:nvSpPr>
        <p:spPr>
          <a:xfrm>
            <a:off x="4371957" y="1938572"/>
            <a:ext cx="1670086" cy="3310984"/>
          </a:xfrm>
          <a:prstGeom prst="roundRect">
            <a:avLst>
              <a:gd name="adj" fmla="val 4373"/>
            </a:avLst>
          </a:prstGeom>
          <a:solidFill>
            <a:srgbClr val="FBFCFA"/>
          </a:solidFill>
          <a:ln w="6350">
            <a:solidFill>
              <a:srgbClr val="D5DEE0"/>
            </a:solidFill>
            <a:prstDash val="solid"/>
          </a:ln>
        </p:spPr>
      </p:sp>
      <p:sp>
        <p:nvSpPr>
          <p:cNvPr id="13" name="Text 11"/>
          <p:cNvSpPr/>
          <p:nvPr/>
        </p:nvSpPr>
        <p:spPr>
          <a:xfrm>
            <a:off x="4577682"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4577682"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Mask</a:t>
            </a:r>
            <a:endParaRPr lang="en-US" sz="1600" dirty="0"/>
          </a:p>
        </p:txBody>
      </p:sp>
      <p:sp>
        <p:nvSpPr>
          <p:cNvPr id="15" name="Text 13"/>
          <p:cNvSpPr/>
          <p:nvPr/>
        </p:nvSpPr>
        <p:spPr>
          <a:xfrm>
            <a:off x="4577682" y="2804643"/>
            <a:ext cx="1309435" cy="8790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Land plus 500 m from OSM; pack ice from HV texture</a:t>
            </a:r>
            <a:endParaRPr lang="en-US" sz="1200" dirty="0"/>
          </a:p>
        </p:txBody>
      </p:sp>
      <p:sp>
        <p:nvSpPr>
          <p:cNvPr id="16" name="Shape 14"/>
          <p:cNvSpPr/>
          <p:nvPr/>
        </p:nvSpPr>
        <p:spPr>
          <a:xfrm>
            <a:off x="6149957" y="1938572"/>
            <a:ext cx="1670086" cy="3310984"/>
          </a:xfrm>
          <a:prstGeom prst="roundRect">
            <a:avLst>
              <a:gd name="adj" fmla="val 4373"/>
            </a:avLst>
          </a:prstGeom>
          <a:solidFill>
            <a:srgbClr val="FBFCFA"/>
          </a:solidFill>
          <a:ln w="6350">
            <a:solidFill>
              <a:srgbClr val="D5DEE0"/>
            </a:solidFill>
            <a:prstDash val="solid"/>
          </a:ln>
        </p:spPr>
      </p:sp>
      <p:sp>
        <p:nvSpPr>
          <p:cNvPr id="17" name="Text 15"/>
          <p:cNvSpPr/>
          <p:nvPr/>
        </p:nvSpPr>
        <p:spPr>
          <a:xfrm>
            <a:off x="6355682"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04</a:t>
            </a:r>
            <a:endParaRPr lang="en-US" sz="1200" dirty="0"/>
          </a:p>
        </p:txBody>
      </p:sp>
      <p:sp>
        <p:nvSpPr>
          <p:cNvPr id="18" name="Text 16"/>
          <p:cNvSpPr/>
          <p:nvPr/>
        </p:nvSpPr>
        <p:spPr>
          <a:xfrm>
            <a:off x="6355682"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Detect</a:t>
            </a:r>
            <a:endParaRPr lang="en-US" sz="1600" dirty="0"/>
          </a:p>
        </p:txBody>
      </p:sp>
      <p:sp>
        <p:nvSpPr>
          <p:cNvPr id="19" name="Text 17"/>
          <p:cNvSpPr/>
          <p:nvPr/>
        </p:nvSpPr>
        <p:spPr>
          <a:xfrm>
            <a:off x="6355682" y="2804643"/>
            <a:ext cx="1309435" cy="8790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CA-CFAR on HV, threshold set from the scene's speckle</a:t>
            </a:r>
            <a:endParaRPr lang="en-US" sz="1200" dirty="0"/>
          </a:p>
        </p:txBody>
      </p:sp>
      <p:sp>
        <p:nvSpPr>
          <p:cNvPr id="20" name="Shape 18"/>
          <p:cNvSpPr/>
          <p:nvPr/>
        </p:nvSpPr>
        <p:spPr>
          <a:xfrm>
            <a:off x="7927956" y="1938572"/>
            <a:ext cx="1670086" cy="3310984"/>
          </a:xfrm>
          <a:prstGeom prst="roundRect">
            <a:avLst>
              <a:gd name="adj" fmla="val 4373"/>
            </a:avLst>
          </a:prstGeom>
          <a:solidFill>
            <a:srgbClr val="FBFCFA"/>
          </a:solidFill>
          <a:ln w="6350">
            <a:solidFill>
              <a:srgbClr val="D5DEE0"/>
            </a:solidFill>
            <a:prstDash val="solid"/>
          </a:ln>
        </p:spPr>
      </p:sp>
      <p:sp>
        <p:nvSpPr>
          <p:cNvPr id="21" name="Text 19"/>
          <p:cNvSpPr/>
          <p:nvPr/>
        </p:nvSpPr>
        <p:spPr>
          <a:xfrm>
            <a:off x="8133683"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05</a:t>
            </a:r>
            <a:endParaRPr lang="en-US" sz="1200" dirty="0"/>
          </a:p>
        </p:txBody>
      </p:sp>
      <p:sp>
        <p:nvSpPr>
          <p:cNvPr id="22" name="Text 20"/>
          <p:cNvSpPr/>
          <p:nvPr/>
        </p:nvSpPr>
        <p:spPr>
          <a:xfrm>
            <a:off x="8133683"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Filter</a:t>
            </a:r>
            <a:endParaRPr lang="en-US" sz="1600" dirty="0"/>
          </a:p>
        </p:txBody>
      </p:sp>
      <p:sp>
        <p:nvSpPr>
          <p:cNvPr id="23" name="Text 21"/>
          <p:cNvSpPr/>
          <p:nvPr/>
        </p:nvSpPr>
        <p:spPr>
          <a:xfrm>
            <a:off x="8133683" y="2804643"/>
            <a:ext cx="1309435" cy="6656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Size limits, ice-strip rejection, HH co-pol check</a:t>
            </a:r>
            <a:endParaRPr lang="en-US" sz="1200" dirty="0"/>
          </a:p>
        </p:txBody>
      </p:sp>
      <p:sp>
        <p:nvSpPr>
          <p:cNvPr id="24" name="Shape 22"/>
          <p:cNvSpPr/>
          <p:nvPr/>
        </p:nvSpPr>
        <p:spPr>
          <a:xfrm>
            <a:off x="9705956" y="1938572"/>
            <a:ext cx="1670086" cy="3310984"/>
          </a:xfrm>
          <a:prstGeom prst="roundRect">
            <a:avLst>
              <a:gd name="adj" fmla="val 4373"/>
            </a:avLst>
          </a:prstGeom>
          <a:solidFill>
            <a:srgbClr val="FBFCFA"/>
          </a:solidFill>
          <a:ln w="6350">
            <a:solidFill>
              <a:srgbClr val="D5DEE0"/>
            </a:solidFill>
            <a:prstDash val="solid"/>
          </a:ln>
        </p:spPr>
      </p:sp>
      <p:sp>
        <p:nvSpPr>
          <p:cNvPr id="25" name="Text 23"/>
          <p:cNvSpPr/>
          <p:nvPr/>
        </p:nvSpPr>
        <p:spPr>
          <a:xfrm>
            <a:off x="9911682" y="2144297"/>
            <a:ext cx="130943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06</a:t>
            </a:r>
            <a:endParaRPr lang="en-US" sz="1200" dirty="0"/>
          </a:p>
        </p:txBody>
      </p:sp>
      <p:sp>
        <p:nvSpPr>
          <p:cNvPr id="26" name="Text 24"/>
          <p:cNvSpPr/>
          <p:nvPr/>
        </p:nvSpPr>
        <p:spPr>
          <a:xfrm>
            <a:off x="9911682" y="2459272"/>
            <a:ext cx="130943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Publish</a:t>
            </a:r>
            <a:endParaRPr lang="en-US" sz="1600" dirty="0"/>
          </a:p>
        </p:txBody>
      </p:sp>
      <p:sp>
        <p:nvSpPr>
          <p:cNvPr id="27" name="Text 25"/>
          <p:cNvSpPr/>
          <p:nvPr/>
        </p:nvSpPr>
        <p:spPr>
          <a:xfrm>
            <a:off x="9911682" y="2804643"/>
            <a:ext cx="1309435" cy="8790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GeoJSON with attributes, then CZML for the Cesium viewer</a:t>
            </a:r>
            <a:endParaRPr lang="en-US" sz="1200" dirty="0"/>
          </a:p>
        </p:txBody>
      </p:sp>
      <p:sp>
        <p:nvSpPr>
          <p:cNvPr id="28" name="Text 26"/>
          <p:cNvSpPr/>
          <p:nvPr/>
        </p:nvSpPr>
        <p:spPr>
          <a:xfrm>
            <a:off x="812782" y="5557512"/>
            <a:ext cx="11379218"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Every parameter lives in </a:t>
            </a:r>
            <a:r>
              <a:rPr lang="en-US" sz="1600" b="1" dirty="0">
                <a:solidFill>
                  <a:srgbClr val="46566A"/>
                </a:solidFill>
                <a:latin typeface="IBM Plex Sans" pitchFamily="34" charset="0"/>
                <a:ea typeface="IBM Plex Sans" pitchFamily="34" charset="-122"/>
                <a:cs typeface="IBM Plex Sans" pitchFamily="34" charset="-120"/>
              </a:rPr>
              <a:t>config.yaml</a:t>
            </a:r>
            <a:r>
              <a:rPr lang="en-US" sz="1600" dirty="0">
                <a:solidFill>
                  <a:srgbClr val="46566A"/>
                </a:solidFill>
                <a:latin typeface="IBM Plex Sans" pitchFamily="34" charset="0"/>
                <a:ea typeface="IBM Plex Sans" pitchFamily="34" charset="-122"/>
                <a:cs typeface="IBM Plex Sans" pitchFamily="34" charset="-120"/>
              </a:rPr>
              <a:t>, with lengths in metres so tuning carries over between 10 m and 20 m pixels.</a:t>
            </a:r>
            <a:endParaRPr lang="en-US" sz="1600" dirty="0"/>
          </a:p>
        </p:txBody>
      </p:sp>
      <p:sp>
        <p:nvSpPr>
          <p:cNvPr id="29" name="Text 27"/>
          <p:cNvSpPr/>
          <p:nvPr/>
        </p:nvSpPr>
        <p:spPr>
          <a:xfrm>
            <a:off x="812782" y="6238242"/>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30" name="Text 28"/>
          <p:cNvSpPr/>
          <p:nvPr/>
        </p:nvSpPr>
        <p:spPr>
          <a:xfrm>
            <a:off x="11236956" y="6238242"/>
            <a:ext cx="14226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4EC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SAR IN ONE SLIDE</a:t>
            </a:r>
            <a:endParaRPr lang="en-US" sz="1200" dirty="0"/>
          </a:p>
        </p:txBody>
      </p:sp>
      <p:sp>
        <p:nvSpPr>
          <p:cNvPr id="3" name="Text 1"/>
          <p:cNvSpPr/>
          <p:nvPr>
            <p:ph type="title"/>
          </p:nvPr>
        </p:nvSpPr>
        <p:spPr>
          <a:xfrm>
            <a:off x="812782" y="1127756"/>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Four ideas behind the detector</a:t>
            </a:r>
            <a:endParaRPr lang="en-US" sz="3600" dirty="0"/>
          </a:p>
        </p:txBody>
      </p:sp>
      <p:sp>
        <p:nvSpPr>
          <p:cNvPr id="4" name="Shape 2"/>
          <p:cNvSpPr/>
          <p:nvPr/>
        </p:nvSpPr>
        <p:spPr>
          <a:xfrm>
            <a:off x="812782" y="1884614"/>
            <a:ext cx="5207000" cy="1902474"/>
          </a:xfrm>
          <a:prstGeom prst="roundRect">
            <a:avLst>
              <a:gd name="adj" fmla="val 5340"/>
            </a:avLst>
          </a:prstGeom>
          <a:solidFill>
            <a:srgbClr val="FBFCFA"/>
          </a:solidFill>
          <a:ln/>
        </p:spPr>
      </p:sp>
      <p:sp>
        <p:nvSpPr>
          <p:cNvPr id="5" name="Text 3"/>
          <p:cNvSpPr/>
          <p:nvPr/>
        </p:nvSpPr>
        <p:spPr>
          <a:xfrm>
            <a:off x="1066782" y="2113178"/>
            <a:ext cx="4839970"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Backscatter</a:t>
            </a:r>
            <a:endParaRPr lang="en-US" sz="2200" dirty="0"/>
          </a:p>
        </p:txBody>
      </p:sp>
      <p:sp>
        <p:nvSpPr>
          <p:cNvPr id="6" name="Text 4"/>
          <p:cNvSpPr/>
          <p:nvPr/>
        </p:nvSpPr>
        <p:spPr>
          <a:xfrm>
            <a:off x="1066782" y="2524575"/>
            <a:ext cx="4839970"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Calm water reflects radar away and looks dark. An iceberg's facets send energy back and look bright.</a:t>
            </a:r>
            <a:endParaRPr lang="en-US" sz="1600" dirty="0"/>
          </a:p>
        </p:txBody>
      </p:sp>
      <p:sp>
        <p:nvSpPr>
          <p:cNvPr id="7" name="Shape 5"/>
          <p:cNvSpPr/>
          <p:nvPr/>
        </p:nvSpPr>
        <p:spPr>
          <a:xfrm>
            <a:off x="6172128" y="1884614"/>
            <a:ext cx="5207090" cy="1902474"/>
          </a:xfrm>
          <a:prstGeom prst="roundRect">
            <a:avLst>
              <a:gd name="adj" fmla="val 5340"/>
            </a:avLst>
          </a:prstGeom>
          <a:solidFill>
            <a:srgbClr val="FBFCFA"/>
          </a:solidFill>
          <a:ln/>
        </p:spPr>
      </p:sp>
      <p:sp>
        <p:nvSpPr>
          <p:cNvPr id="8" name="Text 6"/>
          <p:cNvSpPr/>
          <p:nvPr/>
        </p:nvSpPr>
        <p:spPr>
          <a:xfrm>
            <a:off x="6426128" y="2113178"/>
            <a:ext cx="4840063"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Polarization</a:t>
            </a:r>
            <a:endParaRPr lang="en-US" sz="2200" dirty="0"/>
          </a:p>
        </p:txBody>
      </p:sp>
      <p:sp>
        <p:nvSpPr>
          <p:cNvPr id="9" name="Text 7"/>
          <p:cNvSpPr/>
          <p:nvPr/>
        </p:nvSpPr>
        <p:spPr>
          <a:xfrm>
            <a:off x="6426128" y="2524575"/>
            <a:ext cx="4840063"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Sea clutter is far weaker in cross-pol (HV), so bergs stand out there. HH is the second check.</a:t>
            </a:r>
            <a:endParaRPr lang="en-US" sz="1600" dirty="0"/>
          </a:p>
        </p:txBody>
      </p:sp>
      <p:sp>
        <p:nvSpPr>
          <p:cNvPr id="10" name="Shape 8"/>
          <p:cNvSpPr/>
          <p:nvPr/>
        </p:nvSpPr>
        <p:spPr>
          <a:xfrm>
            <a:off x="812782" y="3939434"/>
            <a:ext cx="5207000" cy="1902564"/>
          </a:xfrm>
          <a:prstGeom prst="roundRect">
            <a:avLst>
              <a:gd name="adj" fmla="val 5340"/>
            </a:avLst>
          </a:prstGeom>
          <a:solidFill>
            <a:srgbClr val="FBFCFA"/>
          </a:solidFill>
          <a:ln/>
        </p:spPr>
      </p:sp>
      <p:sp>
        <p:nvSpPr>
          <p:cNvPr id="11" name="Text 9"/>
          <p:cNvSpPr/>
          <p:nvPr/>
        </p:nvSpPr>
        <p:spPr>
          <a:xfrm>
            <a:off x="1066782" y="4167998"/>
            <a:ext cx="4839970"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Speckle</a:t>
            </a:r>
            <a:endParaRPr lang="en-US" sz="2200" dirty="0"/>
          </a:p>
        </p:txBody>
      </p:sp>
      <p:sp>
        <p:nvSpPr>
          <p:cNvPr id="12" name="Text 10"/>
          <p:cNvSpPr/>
          <p:nvPr/>
        </p:nvSpPr>
        <p:spPr>
          <a:xfrm>
            <a:off x="1066782" y="4579395"/>
            <a:ext cx="4839970"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Grainy noise in every SAR image. Its strength (ENL) is measured per scene and sets the threshold.</a:t>
            </a:r>
            <a:endParaRPr lang="en-US" sz="1600" dirty="0"/>
          </a:p>
        </p:txBody>
      </p:sp>
      <p:sp>
        <p:nvSpPr>
          <p:cNvPr id="13" name="Shape 11"/>
          <p:cNvSpPr/>
          <p:nvPr/>
        </p:nvSpPr>
        <p:spPr>
          <a:xfrm>
            <a:off x="6172128" y="3939434"/>
            <a:ext cx="5207090" cy="1902564"/>
          </a:xfrm>
          <a:prstGeom prst="roundRect">
            <a:avLst>
              <a:gd name="adj" fmla="val 5340"/>
            </a:avLst>
          </a:prstGeom>
          <a:solidFill>
            <a:srgbClr val="FBFCFA"/>
          </a:solidFill>
          <a:ln/>
        </p:spPr>
      </p:sp>
      <p:sp>
        <p:nvSpPr>
          <p:cNvPr id="14" name="Text 12"/>
          <p:cNvSpPr/>
          <p:nvPr/>
        </p:nvSpPr>
        <p:spPr>
          <a:xfrm>
            <a:off x="6426128" y="4167998"/>
            <a:ext cx="4840063"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CFAR</a:t>
            </a:r>
            <a:endParaRPr lang="en-US" sz="2200" dirty="0"/>
          </a:p>
        </p:txBody>
      </p:sp>
      <p:sp>
        <p:nvSpPr>
          <p:cNvPr id="15" name="Text 13"/>
          <p:cNvSpPr/>
          <p:nvPr/>
        </p:nvSpPr>
        <p:spPr>
          <a:xfrm>
            <a:off x="6426128" y="4579395"/>
            <a:ext cx="4840063"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Each pixel is compared with its local background, so false alarms stay rare in calm and rough seas.</a:t>
            </a:r>
            <a:endParaRPr lang="en-US" sz="1600" dirty="0"/>
          </a:p>
        </p:txBody>
      </p:sp>
      <p:sp>
        <p:nvSpPr>
          <p:cNvPr id="16" name="Text 14"/>
          <p:cNvSpPr/>
          <p:nvPr/>
        </p:nvSpPr>
        <p:spPr>
          <a:xfrm>
            <a:off x="812782" y="6238242"/>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7" name="Text 15"/>
          <p:cNvSpPr/>
          <p:nvPr/>
        </p:nvSpPr>
        <p:spPr>
          <a:xfrm>
            <a:off x="11236956" y="6238242"/>
            <a:ext cx="14226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1518949"/>
            <a:ext cx="4447540"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DETECTION</a:t>
            </a:r>
            <a:endParaRPr lang="en-US" sz="1200" dirty="0"/>
          </a:p>
        </p:txBody>
      </p:sp>
      <p:sp>
        <p:nvSpPr>
          <p:cNvPr id="3" name="Text 1"/>
          <p:cNvSpPr/>
          <p:nvPr>
            <p:ph type="title"/>
          </p:nvPr>
        </p:nvSpPr>
        <p:spPr>
          <a:xfrm>
            <a:off x="812782" y="1935485"/>
            <a:ext cx="4447540" cy="103111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CFAR on HV, then three filters</a:t>
            </a:r>
            <a:endParaRPr lang="en-US" sz="3600" dirty="0"/>
          </a:p>
        </p:txBody>
      </p:sp>
      <p:sp>
        <p:nvSpPr>
          <p:cNvPr id="4" name="Text 2"/>
          <p:cNvSpPr/>
          <p:nvPr/>
        </p:nvSpPr>
        <p:spPr>
          <a:xfrm>
            <a:off x="870440" y="3144332"/>
            <a:ext cx="4382262" cy="201681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Threshold</a:t>
            </a:r>
            <a:r>
              <a:rPr lang="en-US" sz="1600" dirty="0">
                <a:solidFill>
                  <a:srgbClr val="46566A"/>
                </a:solidFill>
                <a:latin typeface="IBM Plex Sans" pitchFamily="34" charset="0"/>
                <a:ea typeface="IBM Plex Sans" pitchFamily="34" charset="-122"/>
                <a:cs typeface="IBM Plex Sans" pitchFamily="34" charset="-120"/>
              </a:rPr>
              <a:t> from a 10⁻⁶ false-alarm rate, speckle measured per scene</a:t>
            </a:r>
            <a:endParaRPr lang="en-US" sz="1600" dirty="0"/>
          </a:p>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Size:</a:t>
            </a:r>
            <a:r>
              <a:rPr lang="en-US" sz="1600" dirty="0">
                <a:solidFill>
                  <a:srgbClr val="46566A"/>
                </a:solidFill>
                <a:latin typeface="IBM Plex Sans" pitchFamily="34" charset="0"/>
                <a:ea typeface="IBM Plex Sans" pitchFamily="34" charset="-122"/>
                <a:cs typeface="IBM Plex Sans" pitchFamily="34" charset="-120"/>
              </a:rPr>
              <a:t> 2 px to 0.8 km²</a:t>
            </a:r>
            <a:endParaRPr lang="en-US" sz="1600" dirty="0"/>
          </a:p>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Ice strips:</a:t>
            </a:r>
            <a:r>
              <a:rPr lang="en-US" sz="1600" dirty="0">
                <a:solidFill>
                  <a:srgbClr val="46566A"/>
                </a:solidFill>
                <a:latin typeface="IBM Plex Sans" pitchFamily="34" charset="0"/>
                <a:ea typeface="IBM Plex Sans" pitchFamily="34" charset="-122"/>
                <a:cs typeface="IBM Plex Sans" pitchFamily="34" charset="-120"/>
              </a:rPr>
              <a:t> reject bright structures longer than 300 m</a:t>
            </a:r>
            <a:endParaRPr lang="en-US" sz="1600" dirty="0"/>
          </a:p>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HH check:</a:t>
            </a:r>
            <a:r>
              <a:rPr lang="en-US" sz="1600" dirty="0">
                <a:solidFill>
                  <a:srgbClr val="46566A"/>
                </a:solidFill>
                <a:latin typeface="IBM Plex Sans" pitchFamily="34" charset="0"/>
                <a:ea typeface="IBM Plex Sans" pitchFamily="34" charset="-122"/>
                <a:cs typeface="IBM Plex Sans" pitchFamily="34" charset="-120"/>
              </a:rPr>
              <a:t> at least 6 dB above background in both polarizations</a:t>
            </a:r>
            <a:endParaRPr lang="en-US" sz="1600" dirty="0"/>
          </a:p>
        </p:txBody>
      </p:sp>
      <p:sp>
        <p:nvSpPr>
          <p:cNvPr id="5" name="Shape 3"/>
          <p:cNvSpPr/>
          <p:nvPr/>
        </p:nvSpPr>
        <p:spPr>
          <a:xfrm>
            <a:off x="5486346" y="1039450"/>
            <a:ext cx="5892782" cy="4260814"/>
          </a:xfrm>
          <a:prstGeom prst="roundRect">
            <a:avLst>
              <a:gd name="adj" fmla="val 1788"/>
            </a:avLst>
          </a:prstGeom>
          <a:solidFill>
            <a:srgbClr val="0E2233"/>
          </a:solidFill>
          <a:ln/>
        </p:spPr>
      </p:sp>
      <p:pic>
        <p:nvPicPr>
          <p:cNvPr id="6" name="Image 0" descr="HV radar scene of 8 May 2025 with land and pack ice masked in black and 140 detections circled in red">    </p:cNvPr>
          <p:cNvPicPr>
            <a:picLocks noChangeAspect="1"/>
          </p:cNvPicPr>
          <p:nvPr/>
        </p:nvPicPr>
        <p:blipFill>
          <a:blip r:embed="rId1"/>
          <a:srcRect l="-48" r="-48" t="0" b="0"/>
          <a:stretch/>
        </p:blipFill>
        <p:spPr>
          <a:xfrm>
            <a:off x="5486346" y="1039450"/>
            <a:ext cx="5892782" cy="4260814"/>
          </a:xfrm>
          <a:prstGeom prst="roundRect">
            <a:avLst>
              <a:gd name="adj" fmla="val 1788"/>
            </a:avLst>
          </a:prstGeom>
        </p:spPr>
      </p:pic>
      <p:sp>
        <p:nvSpPr>
          <p:cNvPr id="7" name="Text 4"/>
          <p:cNvSpPr/>
          <p:nvPr/>
        </p:nvSpPr>
        <p:spPr>
          <a:xfrm>
            <a:off x="5486346" y="5401828"/>
            <a:ext cx="6069658"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HV, 2025-05-08. Land and pack ice masked (black), 140 detections circled.</a:t>
            </a:r>
            <a:endParaRPr lang="en-US" sz="1200" dirty="0"/>
          </a:p>
        </p:txBody>
      </p:sp>
      <p:sp>
        <p:nvSpPr>
          <p:cNvPr id="8" name="Text 5"/>
          <p:cNvSpPr/>
          <p:nvPr/>
        </p:nvSpPr>
        <p:spPr>
          <a:xfrm>
            <a:off x="812782" y="6238242"/>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9" name="Text 6"/>
          <p:cNvSpPr/>
          <p:nvPr/>
        </p:nvSpPr>
        <p:spPr>
          <a:xfrm>
            <a:off x="11236956" y="6238242"/>
            <a:ext cx="14226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VIEWER</a:t>
            </a:r>
            <a:endParaRPr lang="en-US" sz="1200" dirty="0"/>
          </a:p>
        </p:txBody>
      </p:sp>
      <p:sp>
        <p:nvSpPr>
          <p:cNvPr id="3" name="Text 1"/>
          <p:cNvSpPr/>
          <p:nvPr>
            <p:ph type="title"/>
          </p:nvPr>
        </p:nvSpPr>
        <p:spPr>
          <a:xfrm>
            <a:off x="812782" y="1127754"/>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Every candidate on a globe, by date</a:t>
            </a:r>
            <a:endParaRPr lang="en-US" sz="3600" dirty="0"/>
          </a:p>
        </p:txBody>
      </p:sp>
      <p:pic>
        <p:nvPicPr>
          <p:cNvPr id="4" name="Image 0" descr="Vue and CesiumJS viewer with the 2 May 2025 scene footprint, pack-ice mask and coloured iceberg candidates">    </p:cNvPr>
          <p:cNvPicPr>
            <a:picLocks noChangeAspect="1"/>
          </p:cNvPicPr>
          <p:nvPr/>
        </p:nvPicPr>
        <p:blipFill>
          <a:blip r:embed="rId1"/>
          <a:srcRect l="41" r="41" t="0" b="0"/>
          <a:stretch/>
        </p:blipFill>
        <p:spPr>
          <a:xfrm>
            <a:off x="812782" y="1884614"/>
            <a:ext cx="6858000" cy="3860782"/>
          </a:xfrm>
          <a:prstGeom prst="roundRect">
            <a:avLst>
              <a:gd name="adj" fmla="val 1974"/>
            </a:avLst>
          </a:prstGeom>
        </p:spPr>
      </p:pic>
      <p:sp>
        <p:nvSpPr>
          <p:cNvPr id="5" name="Text 2"/>
          <p:cNvSpPr/>
          <p:nvPr/>
        </p:nvSpPr>
        <p:spPr>
          <a:xfrm>
            <a:off x="8033222" y="1884614"/>
            <a:ext cx="3440485" cy="3982785"/>
          </a:xfrm>
          <a:prstGeom prst="rect">
            <a:avLst/>
          </a:prstGeom>
          <a:noFill/>
          <a:ln/>
        </p:spPr>
        <p:txBody>
          <a:bodyPr wrap="square" lIns="0" tIns="0" rIns="0" bIns="0" rtlCol="0" anchor="t">
            <a:normAutofit/>
          </a:bodyPr>
          <a:lstStyle/>
          <a:p>
            <a:pPr algn="l" marL="196342" indent="-196342">
              <a:lnSpc>
                <a:spcPts val="2160"/>
              </a:lnSpc>
              <a:buSzPct val="100000"/>
              <a:buChar char="•"/>
            </a:pPr>
            <a:r>
              <a:rPr lang="en-US" sz="1600" dirty="0">
                <a:solidFill>
                  <a:srgbClr val="46566A"/>
                </a:solidFill>
                <a:latin typeface="IBM Plex Sans" pitchFamily="34" charset="0"/>
                <a:ea typeface="IBM Plex Sans" pitchFamily="34" charset="-122"/>
                <a:cs typeface="IBM Plex Sans" pitchFamily="34" charset="-120"/>
              </a:rPr>
              <a:t>Scrub the timeline through the spring 2025 passes</a:t>
            </a:r>
            <a:endParaRPr lang="en-US" sz="1600" dirty="0"/>
          </a:p>
          <a:p>
            <a:pPr algn="l" marL="196342" indent="-196342">
              <a:lnSpc>
                <a:spcPts val="2160"/>
              </a:lnSpc>
              <a:buSzPct val="100000"/>
              <a:buChar char="•"/>
            </a:pPr>
            <a:r>
              <a:rPr lang="en-US" sz="1600" dirty="0">
                <a:solidFill>
                  <a:srgbClr val="46566A"/>
                </a:solidFill>
                <a:latin typeface="IBM Plex Sans" pitchFamily="34" charset="0"/>
                <a:ea typeface="IBM Plex Sans" pitchFamily="34" charset="-122"/>
                <a:cs typeface="IBM Plex Sans" pitchFamily="34" charset="-120"/>
              </a:rPr>
              <a:t>Click a target to see its attributes</a:t>
            </a:r>
            <a:endParaRPr lang="en-US" sz="1600" dirty="0"/>
          </a:p>
          <a:p>
            <a:pPr algn="l" marL="196342" indent="-196342">
              <a:lnSpc>
                <a:spcPts val="2160"/>
              </a:lnSpc>
              <a:buSzPct val="100000"/>
              <a:buChar char="•"/>
            </a:pPr>
            <a:r>
              <a:rPr lang="en-US" sz="1600" dirty="0">
                <a:solidFill>
                  <a:srgbClr val="46566A"/>
                </a:solidFill>
                <a:latin typeface="IBM Plex Sans" pitchFamily="34" charset="0"/>
                <a:ea typeface="IBM Plex Sans" pitchFamily="34" charset="-122"/>
                <a:cs typeface="IBM Plex Sans" pitchFamily="34" charset="-120"/>
              </a:rPr>
              <a:t>Colour shows contrast, size shows extent</a:t>
            </a:r>
            <a:endParaRPr lang="en-US" sz="1600" dirty="0"/>
          </a:p>
          <a:p>
            <a:pPr algn="l" marL="196342" indent="-196342">
              <a:lnSpc>
                <a:spcPts val="2160"/>
              </a:lnSpc>
              <a:buSzPct val="100000"/>
              <a:buChar char="•"/>
            </a:pPr>
            <a:r>
              <a:rPr lang="en-US" sz="1600" dirty="0">
                <a:solidFill>
                  <a:srgbClr val="46566A"/>
                </a:solidFill>
                <a:latin typeface="IBM Plex Sans" pitchFamily="34" charset="0"/>
                <a:ea typeface="IBM Plex Sans" pitchFamily="34" charset="-122"/>
                <a:cs typeface="IBM Plex Sans" pitchFamily="34" charset="-120"/>
              </a:rPr>
              <a:t>Grey: within 5 km of pack ice, likely floes</a:t>
            </a:r>
            <a:endParaRPr lang="en-US" sz="1600" dirty="0"/>
          </a:p>
        </p:txBody>
      </p:sp>
      <p:sp>
        <p:nvSpPr>
          <p:cNvPr id="6" name="Text 3"/>
          <p:cNvSpPr/>
          <p:nvPr/>
        </p:nvSpPr>
        <p:spPr>
          <a:xfrm>
            <a:off x="812782" y="6238242"/>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7" name="Text 4"/>
          <p:cNvSpPr/>
          <p:nvPr/>
        </p:nvSpPr>
        <p:spPr>
          <a:xfrm>
            <a:off x="11236956" y="6238242"/>
            <a:ext cx="14226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A766"/>
        </a:solidFill>
      </p:bgPr>
    </p:bg>
    <p:spTree>
      <p:nvGrpSpPr>
        <p:cNvPr id="1" name=""/>
        <p:cNvGrpSpPr/>
        <p:nvPr/>
      </p:nvGrpSpPr>
      <p:grpSpPr>
        <a:xfrm>
          <a:off x="0" y="0"/>
          <a:ext cx="0" cy="0"/>
          <a:chOff x="0" y="0"/>
          <a:chExt cx="0" cy="0"/>
        </a:xfrm>
      </p:grpSpPr>
      <p:sp>
        <p:nvSpPr>
          <p:cNvPr id="2" name="Text 0"/>
          <p:cNvSpPr/>
          <p:nvPr/>
        </p:nvSpPr>
        <p:spPr>
          <a:xfrm>
            <a:off x="812782" y="1582446"/>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E2233"/>
                </a:solidFill>
                <a:latin typeface="IBM Plex Sans" pitchFamily="34" charset="0"/>
                <a:ea typeface="IBM Plex Sans" pitchFamily="34" charset="-122"/>
                <a:cs typeface="IBM Plex Sans" pitchFamily="34" charset="-120"/>
              </a:rPr>
              <a:t>HEADLINE RESULT</a:t>
            </a:r>
            <a:endParaRPr lang="en-US" sz="1200" dirty="0"/>
          </a:p>
        </p:txBody>
      </p:sp>
      <p:sp>
        <p:nvSpPr>
          <p:cNvPr id="3" name="Text 1"/>
          <p:cNvSpPr/>
          <p:nvPr/>
        </p:nvSpPr>
        <p:spPr>
          <a:xfrm>
            <a:off x="812782" y="1948204"/>
            <a:ext cx="10883429" cy="1549400"/>
          </a:xfrm>
          <a:prstGeom prst="rect">
            <a:avLst/>
          </a:prstGeom>
          <a:noFill/>
          <a:ln/>
        </p:spPr>
        <p:txBody>
          <a:bodyPr wrap="square" lIns="0" tIns="0" rIns="0" bIns="0" rtlCol="0" anchor="t">
            <a:normAutofit/>
          </a:bodyPr>
          <a:lstStyle/>
          <a:p>
            <a:pPr algn="l" indent="0" marL="0">
              <a:lnSpc>
                <a:spcPts val="12000"/>
              </a:lnSpc>
              <a:buNone/>
            </a:pPr>
            <a:r>
              <a:rPr lang="en-US" sz="12000" b="1" dirty="0">
                <a:solidFill>
                  <a:srgbClr val="0E2233"/>
                </a:solidFill>
                <a:latin typeface="Source Serif 4" pitchFamily="18" charset="0"/>
                <a:ea typeface="Source Serif 4" pitchFamily="18" charset="-122"/>
                <a:cs typeface="Source Serif 4" pitchFamily="18" charset="-120"/>
              </a:rPr>
              <a:t>78%</a:t>
            </a:r>
            <a:endParaRPr lang="en-US" sz="12000" dirty="0"/>
          </a:p>
        </p:txBody>
      </p:sp>
      <p:sp>
        <p:nvSpPr>
          <p:cNvPr id="4" name="Text 2"/>
          <p:cNvSpPr/>
          <p:nvPr/>
        </p:nvSpPr>
        <p:spPr>
          <a:xfrm>
            <a:off x="812782" y="3624551"/>
            <a:ext cx="9156700" cy="751862"/>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0E2233"/>
                </a:solidFill>
                <a:latin typeface="IBM Plex Sans" pitchFamily="34" charset="0"/>
                <a:ea typeface="IBM Plex Sans" pitchFamily="34" charset="-122"/>
                <a:cs typeface="IBM Plex Sans" pitchFamily="34" charset="-120"/>
              </a:rPr>
              <a:t>of the icebergs that International Ice Patrol analysts marked on the same Sentinel-1 pass were found: </a:t>
            </a:r>
            <a:r>
              <a:rPr lang="en-US" sz="2200" b="1" dirty="0">
                <a:solidFill>
                  <a:srgbClr val="0E2233"/>
                </a:solidFill>
                <a:latin typeface="IBM Plex Sans" pitchFamily="34" charset="0"/>
                <a:ea typeface="IBM Plex Sans" pitchFamily="34" charset="-122"/>
                <a:cs typeface="IBM Plex Sans" pitchFamily="34" charset="-120"/>
              </a:rPr>
              <a:t>209 of 268</a:t>
            </a:r>
            <a:r>
              <a:rPr lang="en-US" sz="2200" dirty="0">
                <a:solidFill>
                  <a:srgbClr val="0E2233"/>
                </a:solidFill>
                <a:latin typeface="IBM Plex Sans" pitchFamily="34" charset="0"/>
                <a:ea typeface="IBM Plex Sans" pitchFamily="34" charset="-122"/>
                <a:cs typeface="IBM Plex Sans" pitchFamily="34" charset="-120"/>
              </a:rPr>
              <a:t>.</a:t>
            </a:r>
            <a:endParaRPr lang="en-US" sz="2200" dirty="0"/>
          </a:p>
        </p:txBody>
      </p:sp>
      <p:sp>
        <p:nvSpPr>
          <p:cNvPr id="5" name="Text 3"/>
          <p:cNvSpPr/>
          <p:nvPr/>
        </p:nvSpPr>
        <p:spPr>
          <a:xfrm>
            <a:off x="812782" y="4503356"/>
            <a:ext cx="9156700" cy="5943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A3A4A"/>
                </a:solidFill>
                <a:latin typeface="IBM Plex Sans" pitchFamily="34" charset="0"/>
                <a:ea typeface="IBM Plex Sans" pitchFamily="34" charset="-122"/>
                <a:cs typeface="IBM Plex Sans" pitchFamily="34" charset="-120"/>
              </a:rPr>
              <a:t>2019-04-29 · median position difference 128 m · recall steady at 73–84% from the coast to 100 km offshore</a:t>
            </a:r>
            <a:endParaRPr lang="en-US" sz="1600" dirty="0"/>
          </a:p>
        </p:txBody>
      </p:sp>
      <p:sp>
        <p:nvSpPr>
          <p:cNvPr id="6" name="Text 4"/>
          <p:cNvSpPr/>
          <p:nvPr/>
        </p:nvSpPr>
        <p:spPr>
          <a:xfrm>
            <a:off x="812782" y="6238242"/>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3A4A"/>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7" name="Text 5"/>
          <p:cNvSpPr/>
          <p:nvPr/>
        </p:nvSpPr>
        <p:spPr>
          <a:xfrm>
            <a:off x="11236956" y="6238242"/>
            <a:ext cx="14226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2A3A4A"/>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4"/>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RECALL BY SIZE</a:t>
            </a:r>
            <a:endParaRPr lang="en-US" sz="1200" dirty="0"/>
          </a:p>
        </p:txBody>
      </p:sp>
      <p:sp>
        <p:nvSpPr>
          <p:cNvPr id="3" name="Text 1"/>
          <p:cNvSpPr/>
          <p:nvPr>
            <p:ph type="title"/>
          </p:nvPr>
        </p:nvSpPr>
        <p:spPr>
          <a:xfrm>
            <a:off x="812782" y="1127758"/>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Medium bergs are found best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96162"/>
          <a:ext cx="4052455" cy="2190930"/>
        </p:xfrm>
        <a:graphic>
          <a:graphicData uri="http://schemas.openxmlformats.org/drawingml/2006/table">
            <a:tbl>
              <a:tblPr/>
              <a:tblGrid>
                <a:gridCol w="2431473"/>
                <a:gridCol w="1620982"/>
              </a:tblGrid>
              <a:tr h="438186">
                <a:tc>
                  <a:txBody>
                    <a:bodyPr/>
                    <a:lstStyle/>
                    <a:p>
                      <a:pPr indent="0" marL="0">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Berg size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algn="r" indent="0" marL="0">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Recall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r>
              <a:tr h="438186">
                <a:tc>
                  <a:txBody>
                    <a:bodyPr/>
                    <a:lstStyle/>
                    <a:p>
                      <a:pP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Small, 15–60 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62%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Medium, 61–120 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81%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Large, over 120 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 of 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solidFill>
                      <a:srgbClr val="E4ECEE"/>
                    </a:solidFill>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78%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CBE"/>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solidFill>
                      <a:srgbClr val="E4ECEE"/>
                    </a:solidFill>
                  </a:tcPr>
                </a:tc>
              </a:tr>
            </a:tbl>
          </a:graphicData>
        </a:graphic>
      </p:graphicFrame>
      <p:sp>
        <p:nvSpPr>
          <p:cNvPr id="5" name="Shape 2"/>
          <p:cNvSpPr/>
          <p:nvPr/>
        </p:nvSpPr>
        <p:spPr>
          <a:xfrm>
            <a:off x="5181564" y="1884617"/>
            <a:ext cx="6197564" cy="3149564"/>
          </a:xfrm>
          <a:prstGeom prst="roundRect">
            <a:avLst>
              <a:gd name="adj" fmla="val 2419"/>
            </a:avLst>
          </a:prstGeom>
          <a:solidFill>
            <a:srgbClr val="FBFCFA"/>
          </a:solidFill>
          <a:ln/>
        </p:spPr>
      </p:sp>
      <p:pic>
        <p:nvPicPr>
          <p:cNvPr id="6" name="Image 0" descr="Map comparing detections with IIP analyst labels on 29 April 2019">    </p:cNvPr>
          <p:cNvPicPr>
            <a:picLocks noChangeAspect="1"/>
          </p:cNvPicPr>
          <p:nvPr/>
        </p:nvPicPr>
        <p:blipFill>
          <a:blip r:embed="rId1"/>
          <a:srcRect l="-50" r="-50" t="0" b="0"/>
          <a:stretch/>
        </p:blipFill>
        <p:spPr>
          <a:xfrm>
            <a:off x="5187914" y="1890967"/>
            <a:ext cx="6184864" cy="3136864"/>
          </a:xfrm>
          <a:prstGeom prst="roundRect">
            <a:avLst>
              <a:gd name="adj" fmla="val 2227"/>
            </a:avLst>
          </a:prstGeom>
        </p:spPr>
      </p:pic>
      <p:sp>
        <p:nvSpPr>
          <p:cNvPr id="7" name="Shape 3"/>
          <p:cNvSpPr/>
          <p:nvPr/>
        </p:nvSpPr>
        <p:spPr>
          <a:xfrm>
            <a:off x="5184739" y="1887792"/>
            <a:ext cx="6191214" cy="3143214"/>
          </a:xfrm>
          <a:prstGeom prst="roundRect">
            <a:avLst>
              <a:gd name="adj" fmla="val 2323"/>
            </a:avLst>
          </a:prstGeom>
          <a:noFill/>
          <a:ln w="6350">
            <a:solidFill>
              <a:srgbClr val="D5DEE0"/>
            </a:solidFill>
            <a:prstDash val="solid"/>
          </a:ln>
        </p:spPr>
      </p:sp>
      <p:sp>
        <p:nvSpPr>
          <p:cNvPr id="8" name="Text 4"/>
          <p:cNvSpPr/>
          <p:nvPr/>
        </p:nvSpPr>
        <p:spPr>
          <a:xfrm>
            <a:off x="5181564" y="5135745"/>
            <a:ext cx="6383583"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Detections vs. IIP analyst labels, 2019-04-29.</a:t>
            </a:r>
            <a:endParaRPr lang="en-US" sz="1200" dirty="0"/>
          </a:p>
        </p:txBody>
      </p:sp>
      <p:sp>
        <p:nvSpPr>
          <p:cNvPr id="9" name="Text 5"/>
          <p:cNvSpPr/>
          <p:nvPr/>
        </p:nvSpPr>
        <p:spPr>
          <a:xfrm>
            <a:off x="812782" y="6238246"/>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0" name="Text 6"/>
          <p:cNvSpPr/>
          <p:nvPr/>
        </p:nvSpPr>
        <p:spPr>
          <a:xfrm>
            <a:off x="11236956" y="6238246"/>
            <a:ext cx="14226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VALIDATION</a:t>
            </a:r>
            <a:endParaRPr lang="en-US" sz="1200" dirty="0"/>
          </a:p>
        </p:txBody>
      </p:sp>
      <p:sp>
        <p:nvSpPr>
          <p:cNvPr id="3" name="Text 1"/>
          <p:cNvSpPr/>
          <p:nvPr>
            <p:ph type="title"/>
          </p:nvPr>
        </p:nvSpPr>
        <p:spPr>
          <a:xfrm>
            <a:off x="812782" y="1127751"/>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Every ground-truth source has a catch</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96156"/>
          <a:ext cx="10554890" cy="1923491"/>
        </p:xfrm>
        <a:graphic>
          <a:graphicData uri="http://schemas.openxmlformats.org/drawingml/2006/table">
            <a:tbl>
              <a:tblPr/>
              <a:tblGrid>
                <a:gridCol w="2955369"/>
                <a:gridCol w="3166467"/>
                <a:gridCol w="4433054"/>
              </a:tblGrid>
              <a:tr h="384698">
                <a:tc>
                  <a:txBody>
                    <a:bodyPr/>
                    <a:lstStyle/>
                    <a:p>
                      <a:pPr indent="0" marL="0">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Source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indent="0" marL="0">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What it gives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indent="0" marL="0">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Outcome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r>
              <a:tr h="384698">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NAIS iceberg chart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Counts per 1° square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Within 2–4×, but opposite errors cancel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IIP aircraft sightings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Positions 5–7 h after the pass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Inconclusive: drift unresolved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Sentinel-2 optical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Bright objects at 10 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Loose sea ice in April, bergs inshore in June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IIP labels, same pass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Positions on the same image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B19E"/>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c>
                  <a:txBody>
                    <a:bodyPr/>
                    <a:lstStyle/>
                    <a:p>
                      <a:pPr indent="0" marL="0">
                        <a:lnSpc>
                          <a:spcPts val="1960"/>
                        </a:lnSpc>
                        <a:buNone/>
                      </a:pPr>
                      <a:r>
                        <a:rPr lang="en-US" sz="1400" dirty="0">
                          <a:solidFill>
                            <a:srgbClr val="0E2233"/>
                          </a:solidFill>
                          <a:latin typeface="IBM Plex Sans" pitchFamily="34" charset="0"/>
                          <a:ea typeface="IBM Plex Sans" pitchFamily="34" charset="-122"/>
                          <a:cs typeface="IBM Plex Sans" pitchFamily="34" charset="-120"/>
                        </a:rPr>
                        <a:t>Headline: 78% recall, no drift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B19E"/>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r>
            </a:tbl>
          </a:graphicData>
        </a:graphic>
      </p:graphicFrame>
      <p:sp>
        <p:nvSpPr>
          <p:cNvPr id="5" name="Text 2"/>
          <p:cNvSpPr/>
          <p:nvPr/>
        </p:nvSpPr>
        <p:spPr>
          <a:xfrm>
            <a:off x="812782" y="4073649"/>
            <a:ext cx="10883429" cy="5943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Where truth comes hours later, the code estimates a common drift offset and checks it against chance. If the peak is weak, it reports "drift unresolved" instead of a score.</a:t>
            </a:r>
            <a:endParaRPr lang="en-US" sz="1600" dirty="0"/>
          </a:p>
        </p:txBody>
      </p:sp>
      <p:sp>
        <p:nvSpPr>
          <p:cNvPr id="6" name="Text 3"/>
          <p:cNvSpPr/>
          <p:nvPr/>
        </p:nvSpPr>
        <p:spPr>
          <a:xfrm>
            <a:off x="812782" y="6238242"/>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7" name="Text 4"/>
          <p:cNvSpPr/>
          <p:nvPr/>
        </p:nvSpPr>
        <p:spPr>
          <a:xfrm>
            <a:off x="11236956" y="6238242"/>
            <a:ext cx="142262"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4EC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LIMITS AND NEXT STEPS</a:t>
            </a:r>
            <a:endParaRPr lang="en-US" sz="1200" dirty="0"/>
          </a:p>
        </p:txBody>
      </p:sp>
      <p:sp>
        <p:nvSpPr>
          <p:cNvPr id="3" name="Text 1"/>
          <p:cNvSpPr/>
          <p:nvPr>
            <p:ph type="title"/>
          </p:nvPr>
        </p:nvSpPr>
        <p:spPr>
          <a:xfrm>
            <a:off x="812782" y="1127751"/>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What the numbers don't show yet</a:t>
            </a:r>
            <a:endParaRPr lang="en-US" sz="3600" dirty="0"/>
          </a:p>
        </p:txBody>
      </p:sp>
      <p:sp>
        <p:nvSpPr>
          <p:cNvPr id="4" name="Shape 2"/>
          <p:cNvSpPr/>
          <p:nvPr/>
        </p:nvSpPr>
        <p:spPr>
          <a:xfrm>
            <a:off x="812782" y="1884611"/>
            <a:ext cx="5158563" cy="3957385"/>
          </a:xfrm>
          <a:prstGeom prst="roundRect">
            <a:avLst>
              <a:gd name="adj" fmla="val 2567"/>
            </a:avLst>
          </a:prstGeom>
          <a:solidFill>
            <a:srgbClr val="FBFCFA"/>
          </a:solidFill>
          <a:ln/>
        </p:spPr>
      </p:sp>
      <p:sp>
        <p:nvSpPr>
          <p:cNvPr id="5" name="Text 3"/>
          <p:cNvSpPr/>
          <p:nvPr/>
        </p:nvSpPr>
        <p:spPr>
          <a:xfrm>
            <a:off x="1117564" y="2138611"/>
            <a:ext cx="4685469"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Limits</a:t>
            </a:r>
            <a:endParaRPr lang="en-US" sz="2200" dirty="0"/>
          </a:p>
        </p:txBody>
      </p:sp>
      <p:sp>
        <p:nvSpPr>
          <p:cNvPr id="6" name="Text 4"/>
          <p:cNvSpPr/>
          <p:nvPr/>
        </p:nvSpPr>
        <p:spPr>
          <a:xfrm>
            <a:off x="1195796" y="2600883"/>
            <a:ext cx="4599617" cy="1518552"/>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Precision unknown:</a:t>
            </a:r>
            <a:r>
              <a:rPr lang="en-US" sz="1400" dirty="0">
                <a:solidFill>
                  <a:srgbClr val="46566A"/>
                </a:solidFill>
                <a:latin typeface="IBM Plex Sans" pitchFamily="34" charset="0"/>
                <a:ea typeface="IBM Plex Sans" pitchFamily="34" charset="-122"/>
                <a:cs typeface="IBM Plex Sans" pitchFamily="34" charset="-120"/>
              </a:rPr>
              <a:t> 475 of 684 detections are unlabelled bergs, boats or false alarms</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Large bergs missed:</a:t>
            </a:r>
            <a:r>
              <a:rPr lang="en-US" sz="1400" dirty="0">
                <a:solidFill>
                  <a:srgbClr val="46566A"/>
                </a:solidFill>
                <a:latin typeface="IBM Plex Sans" pitchFamily="34" charset="0"/>
                <a:ea typeface="IBM Plex Sans" pitchFamily="34" charset="-122"/>
                <a:cs typeface="IBM Plex Sans" pitchFamily="34" charset="-120"/>
              </a:rPr>
              <a:t> 0 of 4 over 120 m</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Rough seas</a:t>
            </a:r>
            <a:r>
              <a:rPr lang="en-US" sz="1400" dirty="0">
                <a:solidFill>
                  <a:srgbClr val="46566A"/>
                </a:solidFill>
                <a:latin typeface="IBM Plex Sans" pitchFamily="34" charset="0"/>
                <a:ea typeface="IBM Plex Sans" pitchFamily="34" charset="-122"/>
                <a:cs typeface="IBM Plex Sans" pitchFamily="34" charset="-120"/>
              </a:rPr>
              <a:t> raise the HV background 3–4 dB</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Near pack ice,</a:t>
            </a:r>
            <a:r>
              <a:rPr lang="en-US" sz="1400" dirty="0">
                <a:solidFill>
                  <a:srgbClr val="46566A"/>
                </a:solidFill>
                <a:latin typeface="IBM Plex Sans" pitchFamily="34" charset="0"/>
                <a:ea typeface="IBM Plex Sans" pitchFamily="34" charset="-122"/>
                <a:cs typeface="IBM Plex Sans" pitchFamily="34" charset="-120"/>
              </a:rPr>
              <a:t> many targets are floes (flagged, not removed)</a:t>
            </a:r>
            <a:endParaRPr lang="en-US" sz="1400" dirty="0"/>
          </a:p>
        </p:txBody>
      </p:sp>
      <p:sp>
        <p:nvSpPr>
          <p:cNvPr id="7" name="Shape 5"/>
          <p:cNvSpPr/>
          <p:nvPr/>
        </p:nvSpPr>
        <p:spPr>
          <a:xfrm>
            <a:off x="6174473" y="1884611"/>
            <a:ext cx="5204745" cy="3957385"/>
          </a:xfrm>
          <a:prstGeom prst="roundRect">
            <a:avLst>
              <a:gd name="adj" fmla="val 2567"/>
            </a:avLst>
          </a:prstGeom>
          <a:solidFill>
            <a:srgbClr val="FBFCFA"/>
          </a:solidFill>
          <a:ln/>
        </p:spPr>
      </p:sp>
      <p:sp>
        <p:nvSpPr>
          <p:cNvPr id="8" name="Shape 6"/>
          <p:cNvSpPr/>
          <p:nvPr/>
        </p:nvSpPr>
        <p:spPr>
          <a:xfrm>
            <a:off x="6174473" y="1884611"/>
            <a:ext cx="5204745" cy="3957385"/>
          </a:xfrm>
          <a:custGeom>
            <a:avLst/>
            <a:gdLst/>
            <a:ahLst/>
            <a:cxnLst/>
            <a:rect l="l" t="t" r="r" b="b"/>
            <a:pathLst>
              <a:path w="5204745" h="3957385">
                <a:moveTo>
                  <a:pt x="101600" y="3957385"/>
                </a:moveTo>
                <a:lnTo>
                  <a:pt x="101600" y="3957385"/>
                </a:lnTo>
                <a:arcTo hR="101600" wR="101600" stAng="5400000" swAng="5400000"/>
                <a:lnTo>
                  <a:pt x="0" y="101600"/>
                </a:lnTo>
                <a:arcTo hR="101600" wR="101600" stAng="10800000" swAng="5400000"/>
                <a:lnTo>
                  <a:pt x="101600" y="0"/>
                </a:lnTo>
                <a:arcTo hR="101600" wR="50800" stAng="16200000" swAng="-5400000"/>
                <a:lnTo>
                  <a:pt x="50800" y="3855785"/>
                </a:lnTo>
                <a:arcTo hR="101600" wR="50800" stAng="10800000" swAng="-5400000"/>
                <a:close/>
              </a:path>
            </a:pathLst>
          </a:custGeom>
          <a:solidFill>
            <a:srgbClr val="A84B1A"/>
          </a:solidFill>
          <a:ln/>
        </p:spPr>
      </p:sp>
      <p:sp>
        <p:nvSpPr>
          <p:cNvPr id="9" name="Text 7"/>
          <p:cNvSpPr/>
          <p:nvPr/>
        </p:nvSpPr>
        <p:spPr>
          <a:xfrm>
            <a:off x="6525437" y="2138611"/>
            <a:ext cx="4685469"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Next</a:t>
            </a:r>
            <a:endParaRPr lang="en-US" sz="2200" dirty="0"/>
          </a:p>
        </p:txBody>
      </p:sp>
      <p:sp>
        <p:nvSpPr>
          <p:cNvPr id="10" name="Text 8"/>
          <p:cNvSpPr/>
          <p:nvPr/>
        </p:nvSpPr>
        <p:spPr>
          <a:xfrm>
            <a:off x="6603669" y="2600883"/>
            <a:ext cx="4599617" cy="176741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AIS ship positions</a:t>
            </a:r>
            <a:r>
              <a:rPr lang="en-US" sz="1400" dirty="0">
                <a:solidFill>
                  <a:srgbClr val="46566A"/>
                </a:solidFill>
                <a:latin typeface="IBM Plex Sans" pitchFamily="34" charset="0"/>
                <a:ea typeface="IBM Plex Sans" pitchFamily="34" charset="-122"/>
                <a:cs typeface="IBM Plex Sans" pitchFamily="34" charset="-120"/>
              </a:rPr>
              <a:t> for the same passes, to measure precision</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Size-aware filters:</a:t>
            </a:r>
            <a:r>
              <a:rPr lang="en-US" sz="1400" dirty="0">
                <a:solidFill>
                  <a:srgbClr val="46566A"/>
                </a:solidFill>
                <a:latin typeface="IBM Plex Sans" pitchFamily="34" charset="0"/>
                <a:ea typeface="IBM Plex Sans" pitchFamily="34" charset="-122"/>
                <a:cs typeface="IBM Plex Sans" pitchFamily="34" charset="-120"/>
              </a:rPr>
              <a:t> scale the strip filter and guard window to the target</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OS-CFAR or K-distribution</a:t>
            </a:r>
            <a:r>
              <a:rPr lang="en-US" sz="1400" dirty="0">
                <a:solidFill>
                  <a:srgbClr val="46566A"/>
                </a:solidFill>
                <a:latin typeface="IBM Plex Sans" pitchFamily="34" charset="0"/>
                <a:ea typeface="IBM Plex Sans" pitchFamily="34" charset="-122"/>
                <a:cs typeface="IBM Plex Sans" pitchFamily="34" charset="-120"/>
              </a:rPr>
              <a:t> for heavy-tailed sea clutter</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Docker</a:t>
            </a:r>
            <a:r>
              <a:rPr lang="en-US" sz="1400" dirty="0">
                <a:solidFill>
                  <a:srgbClr val="46566A"/>
                </a:solidFill>
                <a:latin typeface="IBM Plex Sans" pitchFamily="34" charset="0"/>
                <a:ea typeface="IBM Plex Sans" pitchFamily="34" charset="-122"/>
                <a:cs typeface="IBM Plex Sans" pitchFamily="34" charset="-120"/>
              </a:rPr>
              <a:t> and a hosted static viewer</a:t>
            </a:r>
            <a:endParaRPr lang="en-US" sz="1400" dirty="0"/>
          </a:p>
        </p:txBody>
      </p:sp>
      <p:sp>
        <p:nvSpPr>
          <p:cNvPr id="11" name="Text 9"/>
          <p:cNvSpPr/>
          <p:nvPr/>
        </p:nvSpPr>
        <p:spPr>
          <a:xfrm>
            <a:off x="812782" y="6238242"/>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2" name="Text 10"/>
          <p:cNvSpPr/>
          <p:nvPr/>
        </p:nvSpPr>
        <p:spPr>
          <a:xfrm>
            <a:off x="11145494" y="6238242"/>
            <a:ext cx="233723"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BUILD</a:t>
            </a:r>
            <a:endParaRPr lang="en-US" sz="1200" dirty="0"/>
          </a:p>
        </p:txBody>
      </p:sp>
      <p:sp>
        <p:nvSpPr>
          <p:cNvPr id="3" name="Text 1"/>
          <p:cNvSpPr/>
          <p:nvPr>
            <p:ph type="title"/>
          </p:nvPr>
        </p:nvSpPr>
        <p:spPr>
          <a:xfrm>
            <a:off x="812782" y="1127751"/>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One command, end to end</a:t>
            </a:r>
            <a:endParaRPr lang="en-US" sz="3600" dirty="0"/>
          </a:p>
        </p:txBody>
      </p:sp>
      <p:sp>
        <p:nvSpPr>
          <p:cNvPr id="4" name="Text 2"/>
          <p:cNvSpPr/>
          <p:nvPr/>
        </p:nvSpPr>
        <p:spPr>
          <a:xfrm>
            <a:off x="812782" y="1884611"/>
            <a:ext cx="10566436" cy="690743"/>
          </a:xfrm>
          <a:prstGeom prst="roundRect">
            <a:avLst>
              <a:gd name="adj" fmla="val 11032"/>
            </a:avLst>
          </a:prstGeom>
          <a:solidFill>
            <a:srgbClr val="0E2233"/>
          </a:solidFill>
          <a:ln/>
        </p:spPr>
        <p:txBody>
          <a:bodyPr wrap="square" lIns="231682" tIns="180882" rIns="0" bIns="155482" rtlCol="0" anchor="t">
            <a:normAutofit/>
          </a:bodyPr>
          <a:lstStyle/>
          <a:p>
            <a:pPr algn="l" indent="0" marL="0">
              <a:lnSpc>
                <a:spcPts val="2240"/>
              </a:lnSpc>
              <a:buNone/>
            </a:pPr>
            <a:r>
              <a:rPr lang="en-US" sz="1600" dirty="0">
                <a:solidFill>
                  <a:srgbClr val="EEF2F0"/>
                </a:solidFill>
                <a:latin typeface="Courier New" pitchFamily="49" charset="0"/>
                <a:ea typeface="Courier New" pitchFamily="49" charset="-122"/>
                <a:cs typeface="Courier New" pitchFamily="49" charset="-120"/>
              </a:rPr>
              <a:t>python -m iceberg_sar.cli run --start 2025-05-01 --end 2025-05-15</a:t>
            </a:r>
            <a:endParaRPr lang="en-US" sz="1600" dirty="0"/>
          </a:p>
        </p:txBody>
      </p:sp>
      <p:sp>
        <p:nvSpPr>
          <p:cNvPr id="5" name="Shape 3"/>
          <p:cNvSpPr/>
          <p:nvPr/>
        </p:nvSpPr>
        <p:spPr>
          <a:xfrm>
            <a:off x="815957" y="2832528"/>
            <a:ext cx="2520932" cy="1158208"/>
          </a:xfrm>
          <a:prstGeom prst="roundRect">
            <a:avLst>
              <a:gd name="adj" fmla="val 6305"/>
            </a:avLst>
          </a:prstGeom>
          <a:solidFill>
            <a:srgbClr val="FBFCFA"/>
          </a:solidFill>
          <a:ln w="6350">
            <a:solidFill>
              <a:srgbClr val="D5DEE0"/>
            </a:solidFill>
            <a:prstDash val="solid"/>
          </a:ln>
        </p:spPr>
      </p:sp>
      <p:sp>
        <p:nvSpPr>
          <p:cNvPr id="6" name="Text 4"/>
          <p:cNvSpPr/>
          <p:nvPr/>
        </p:nvSpPr>
        <p:spPr>
          <a:xfrm>
            <a:off x="1021683" y="3038258"/>
            <a:ext cx="2172765"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Processing</a:t>
            </a:r>
            <a:endParaRPr lang="en-US" sz="1600" dirty="0"/>
          </a:p>
        </p:txBody>
      </p:sp>
      <p:sp>
        <p:nvSpPr>
          <p:cNvPr id="7" name="Text 5"/>
          <p:cNvSpPr/>
          <p:nvPr/>
        </p:nvSpPr>
        <p:spPr>
          <a:xfrm>
            <a:off x="1021683" y="3358189"/>
            <a:ext cx="2172765"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Python 3.11, numpy, scipy, rasterio, GeoPandas, typer CLI</a:t>
            </a:r>
            <a:endParaRPr lang="en-US" sz="1200" dirty="0"/>
          </a:p>
        </p:txBody>
      </p:sp>
      <p:sp>
        <p:nvSpPr>
          <p:cNvPr id="8" name="Shape 6"/>
          <p:cNvSpPr/>
          <p:nvPr/>
        </p:nvSpPr>
        <p:spPr>
          <a:xfrm>
            <a:off x="3495585" y="2832528"/>
            <a:ext cx="2521022" cy="1158208"/>
          </a:xfrm>
          <a:prstGeom prst="roundRect">
            <a:avLst>
              <a:gd name="adj" fmla="val 6305"/>
            </a:avLst>
          </a:prstGeom>
          <a:solidFill>
            <a:srgbClr val="FBFCFA"/>
          </a:solidFill>
          <a:ln w="6350">
            <a:solidFill>
              <a:srgbClr val="D5DEE0"/>
            </a:solidFill>
            <a:prstDash val="solid"/>
          </a:ln>
        </p:spPr>
      </p:sp>
      <p:sp>
        <p:nvSpPr>
          <p:cNvPr id="9" name="Text 7"/>
          <p:cNvSpPr/>
          <p:nvPr/>
        </p:nvSpPr>
        <p:spPr>
          <a:xfrm>
            <a:off x="3701310" y="3038258"/>
            <a:ext cx="217285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Data</a:t>
            </a:r>
            <a:endParaRPr lang="en-US" sz="1600" dirty="0"/>
          </a:p>
        </p:txBody>
      </p:sp>
      <p:sp>
        <p:nvSpPr>
          <p:cNvPr id="10" name="Text 8"/>
          <p:cNvSpPr/>
          <p:nvPr/>
        </p:nvSpPr>
        <p:spPr>
          <a:xfrm>
            <a:off x="3701310" y="3358189"/>
            <a:ext cx="2172858"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asf_search, HyP3 RTC, OSM land polygons, IIP sightings</a:t>
            </a:r>
            <a:endParaRPr lang="en-US" sz="1200" dirty="0"/>
          </a:p>
        </p:txBody>
      </p:sp>
      <p:sp>
        <p:nvSpPr>
          <p:cNvPr id="11" name="Shape 9"/>
          <p:cNvSpPr/>
          <p:nvPr/>
        </p:nvSpPr>
        <p:spPr>
          <a:xfrm>
            <a:off x="6175303" y="2832528"/>
            <a:ext cx="2521022" cy="1158208"/>
          </a:xfrm>
          <a:prstGeom prst="roundRect">
            <a:avLst>
              <a:gd name="adj" fmla="val 6305"/>
            </a:avLst>
          </a:prstGeom>
          <a:solidFill>
            <a:srgbClr val="FBFCFA"/>
          </a:solidFill>
          <a:ln w="6350">
            <a:solidFill>
              <a:srgbClr val="D5DEE0"/>
            </a:solidFill>
            <a:prstDash val="solid"/>
          </a:ln>
        </p:spPr>
      </p:sp>
      <p:sp>
        <p:nvSpPr>
          <p:cNvPr id="12" name="Text 10"/>
          <p:cNvSpPr/>
          <p:nvPr/>
        </p:nvSpPr>
        <p:spPr>
          <a:xfrm>
            <a:off x="6381028" y="3038258"/>
            <a:ext cx="217285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Viewer</a:t>
            </a:r>
            <a:endParaRPr lang="en-US" sz="1600" dirty="0"/>
          </a:p>
        </p:txBody>
      </p:sp>
      <p:sp>
        <p:nvSpPr>
          <p:cNvPr id="13" name="Text 11"/>
          <p:cNvSpPr/>
          <p:nvPr/>
        </p:nvSpPr>
        <p:spPr>
          <a:xfrm>
            <a:off x="6381028" y="3358189"/>
            <a:ext cx="2172858"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Vue 3, Vite, CesiumJS, time-dynamic CZML</a:t>
            </a:r>
            <a:endParaRPr lang="en-US" sz="1200" dirty="0"/>
          </a:p>
        </p:txBody>
      </p:sp>
      <p:sp>
        <p:nvSpPr>
          <p:cNvPr id="14" name="Shape 12"/>
          <p:cNvSpPr/>
          <p:nvPr/>
        </p:nvSpPr>
        <p:spPr>
          <a:xfrm>
            <a:off x="8855021" y="2832528"/>
            <a:ext cx="2521022" cy="1158208"/>
          </a:xfrm>
          <a:prstGeom prst="roundRect">
            <a:avLst>
              <a:gd name="adj" fmla="val 6305"/>
            </a:avLst>
          </a:prstGeom>
          <a:solidFill>
            <a:srgbClr val="FBFCFA"/>
          </a:solidFill>
          <a:ln w="6350">
            <a:solidFill>
              <a:srgbClr val="D5DEE0"/>
            </a:solidFill>
            <a:prstDash val="solid"/>
          </a:ln>
        </p:spPr>
      </p:sp>
      <p:sp>
        <p:nvSpPr>
          <p:cNvPr id="15" name="Text 13"/>
          <p:cNvSpPr/>
          <p:nvPr/>
        </p:nvSpPr>
        <p:spPr>
          <a:xfrm>
            <a:off x="9060746" y="3038258"/>
            <a:ext cx="2172858"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2233"/>
                </a:solidFill>
                <a:latin typeface="IBM Plex Sans" pitchFamily="34" charset="0"/>
                <a:ea typeface="IBM Plex Sans" pitchFamily="34" charset="-122"/>
                <a:cs typeface="IBM Plex Sans" pitchFamily="34" charset="-120"/>
              </a:rPr>
              <a:t>Quality</a:t>
            </a:r>
            <a:endParaRPr lang="en-US" sz="1600" dirty="0"/>
          </a:p>
        </p:txBody>
      </p:sp>
      <p:sp>
        <p:nvSpPr>
          <p:cNvPr id="16" name="Text 14"/>
          <p:cNvSpPr/>
          <p:nvPr/>
        </p:nvSpPr>
        <p:spPr>
          <a:xfrm>
            <a:off x="9060746" y="3358189"/>
            <a:ext cx="2172858"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IBM Plex Sans" pitchFamily="34" charset="0"/>
                <a:ea typeface="IBM Plex Sans" pitchFamily="34" charset="-122"/>
                <a:cs typeface="IBM Plex Sans" pitchFamily="34" charset="-120"/>
              </a:rPr>
              <a:t>67 pytest tests, all parameters in config.yaml</a:t>
            </a:r>
            <a:endParaRPr lang="en-US" sz="1200" dirty="0"/>
          </a:p>
        </p:txBody>
      </p:sp>
      <p:sp>
        <p:nvSpPr>
          <p:cNvPr id="17" name="Text 15"/>
          <p:cNvSpPr/>
          <p:nvPr/>
        </p:nvSpPr>
        <p:spPr>
          <a:xfrm>
            <a:off x="812782" y="4247914"/>
            <a:ext cx="10883429" cy="5943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Re-runs reuse downloaded scenes and existing outputs. A dry run shows the plan and the HyP3 credit cost before anything is ordered.</a:t>
            </a:r>
            <a:endParaRPr lang="en-US" sz="1600" dirty="0"/>
          </a:p>
        </p:txBody>
      </p:sp>
      <p:sp>
        <p:nvSpPr>
          <p:cNvPr id="18" name="Text 16"/>
          <p:cNvSpPr/>
          <p:nvPr/>
        </p:nvSpPr>
        <p:spPr>
          <a:xfrm>
            <a:off x="812782" y="6238242"/>
            <a:ext cx="2610499"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Iceberg Alley SAR · Project brief</a:t>
            </a:r>
            <a:endParaRPr lang="en-US" sz="1200" dirty="0"/>
          </a:p>
        </p:txBody>
      </p:sp>
      <p:sp>
        <p:nvSpPr>
          <p:cNvPr id="19" name="Text 17"/>
          <p:cNvSpPr/>
          <p:nvPr/>
        </p:nvSpPr>
        <p:spPr>
          <a:xfrm>
            <a:off x="11145494" y="6238242"/>
            <a:ext cx="233723"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233"/>
        </a:solidFill>
      </p:bgPr>
    </p:bg>
    <p:spTree>
      <p:nvGrpSpPr>
        <p:cNvPr id="1" name=""/>
        <p:cNvGrpSpPr/>
        <p:nvPr/>
      </p:nvGrpSpPr>
      <p:grpSpPr>
        <a:xfrm>
          <a:off x="0" y="0"/>
          <a:ext cx="0" cy="0"/>
          <a:chOff x="0" y="0"/>
          <a:chExt cx="0" cy="0"/>
        </a:xfrm>
      </p:grpSpPr>
      <p:sp>
        <p:nvSpPr>
          <p:cNvPr id="2" name="Text 0"/>
          <p:cNvSpPr/>
          <p:nvPr/>
        </p:nvSpPr>
        <p:spPr>
          <a:xfrm>
            <a:off x="812782" y="2029383"/>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766"/>
                </a:solidFill>
                <a:latin typeface="IBM Plex Sans" pitchFamily="34" charset="0"/>
                <a:ea typeface="IBM Plex Sans" pitchFamily="34" charset="-122"/>
                <a:cs typeface="IBM Plex Sans" pitchFamily="34" charset="-120"/>
              </a:rPr>
              <a:t>THANK YOU</a:t>
            </a:r>
            <a:endParaRPr lang="en-US" sz="1200" dirty="0"/>
          </a:p>
        </p:txBody>
      </p:sp>
      <p:sp>
        <p:nvSpPr>
          <p:cNvPr id="3" name="Text 1"/>
          <p:cNvSpPr/>
          <p:nvPr>
            <p:ph type="title"/>
          </p:nvPr>
        </p:nvSpPr>
        <p:spPr>
          <a:xfrm>
            <a:off x="812782" y="2496790"/>
            <a:ext cx="10883429"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6F3"/>
                </a:solidFill>
                <a:latin typeface="Source Serif 4" pitchFamily="18" charset="0"/>
                <a:ea typeface="Source Serif 4" pitchFamily="18" charset="-122"/>
                <a:cs typeface="Source Serif 4" pitchFamily="18" charset="-120"/>
              </a:rPr>
              <a:t>Questions?</a:t>
            </a:r>
            <a:endParaRPr lang="en-US" sz="6000" dirty="0"/>
          </a:p>
        </p:txBody>
      </p:sp>
      <p:sp>
        <p:nvSpPr>
          <p:cNvPr id="4" name="Text 2"/>
          <p:cNvSpPr/>
          <p:nvPr/>
        </p:nvSpPr>
        <p:spPr>
          <a:xfrm>
            <a:off x="812782" y="3550853"/>
            <a:ext cx="10883429" cy="38863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3DB"/>
                </a:solidFill>
                <a:latin typeface="IBM Plex Sans" pitchFamily="34" charset="0"/>
                <a:ea typeface="IBM Plex Sans" pitchFamily="34" charset="-122"/>
                <a:cs typeface="IBM Plex Sans" pitchFamily="34" charset="-120"/>
              </a:rPr>
              <a:t>Natali Kovalski · </a:t>
            </a:r>
            <a:r>
              <a:rPr lang="en-US" sz="2200" u="sng" dirty="0">
                <a:solidFill>
                  <a:srgbClr val="F2A76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github.com/natali-kovalski/Icebergs</a:t>
            </a:r>
            <a:endParaRPr lang="en-US" sz="2200" dirty="0"/>
          </a:p>
        </p:txBody>
      </p:sp>
      <p:sp>
        <p:nvSpPr>
          <p:cNvPr id="5" name="Text 3"/>
          <p:cNvSpPr/>
          <p:nvPr/>
        </p:nvSpPr>
        <p:spPr>
          <a:xfrm>
            <a:off x="812782" y="4168087"/>
            <a:ext cx="9810750" cy="482708"/>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FB4BE"/>
                </a:solidFill>
                <a:latin typeface="IBM Plex Sans" pitchFamily="34" charset="0"/>
                <a:ea typeface="IBM Plex Sans" pitchFamily="34" charset="-122"/>
                <a:cs typeface="IBM Plex Sans" pitchFamily="34" charset="-120"/>
              </a:rPr>
              <a:t>Contains modified Copernicus Sentinel data (2019–2025). Iceberg data: International Ice Patrol (NSIDC G00807) and the North American Ice Service. Land polygons © OpenStreetMap contributors.</a:t>
            </a:r>
            <a:endParaRPr lang="en-US" sz="1200" dirty="0"/>
          </a:p>
        </p:txBody>
      </p:sp>
    </p:spTree>
  </p:cSld>
  <p:clrMapOvr>
    <a:masterClrMapping/>
  </p:clrMapOvr>
</p:sld>
</file>

<file path=ppt/theme/theme1.xml><?xml version="1.0" encoding="utf-8"?>
<a:theme xmlns:a="http://schemas.openxmlformats.org/drawingml/2006/main" name="Iceberg Alley SAR — Project Brief">
  <a:themeElements>
    <a:clrScheme name="Iceberg Alley SAR — Project Brief">
      <a:dk1>
        <a:srgbClr val="0E2233"/>
      </a:dk1>
      <a:lt1>
        <a:srgbClr val="F4F6F3"/>
      </a:lt1>
      <a:dk2>
        <a:srgbClr val="485763"/>
      </a:dk2>
      <a:lt2>
        <a:srgbClr val="DDE1E0"/>
      </a:lt2>
      <a:accent1>
        <a:srgbClr val="A84B1A"/>
      </a:accent1>
      <a:accent2>
        <a:srgbClr val="F2A766"/>
      </a:accent2>
      <a:accent3>
        <a:srgbClr val="46566A"/>
      </a:accent3>
      <a:accent4>
        <a:srgbClr val="5A6978"/>
      </a:accent4>
      <a:accent5>
        <a:srgbClr val="BFD3DB"/>
      </a:accent5>
      <a:accent6>
        <a:srgbClr val="2A3A4A"/>
      </a:accent6>
      <a:hlink>
        <a:srgbClr val="0563C1"/>
      </a:hlink>
      <a:folHlink>
        <a:srgbClr val="954F72"/>
      </a:folHlink>
    </a:clrScheme>
    <a:fontScheme name="Iceberg Alley SAR — Project Brief">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Iceberg Alley SAR — Project Brief</dc:title>
  <dc:subject/>
  <dc:creator/>
  <cp:lastModifiedBy/>
  <cp:revision>1</cp:revision>
  <dcterms:created xsi:type="dcterms:W3CDTF">2026-10-06T13:32:03Z</dcterms:created>
  <dcterms:modified xsi:type="dcterms:W3CDTF">2026-10-06T13:32:03Z</dcterms:modified>
</cp:coreProperties>
</file>